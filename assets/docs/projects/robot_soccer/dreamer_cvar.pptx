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72" r:id="rId14"/>
    <p:sldId id="265" r:id="rId15"/>
    <p:sldId id="273" r:id="rId16"/>
    <p:sldId id="269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5"/>
  </p:normalViewPr>
  <p:slideViewPr>
    <p:cSldViewPr snapToGrid="0">
      <p:cViewPr varScale="1">
        <p:scale>
          <a:sx n="104" d="100"/>
          <a:sy n="104" d="100"/>
        </p:scale>
        <p:origin x="24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8B88-AD80-D662-9054-F4F45AB8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5978EB-6215-B356-9DB3-47F855AFE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DF245-4E3C-A440-FB21-0BFBCF360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3661A-523D-0048-CDC3-1CA546D3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03A8A-5ACB-30E4-AB0D-B2C65FD0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9A94E-F5E7-7337-30FF-292E6E9A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0AFC9-6339-009A-32DF-2A197154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F3E38-23F1-8BB6-BE24-F190922F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A37AB-BE5C-084D-068F-EB99963DC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3C4FB-4375-A92E-C99B-DE626764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8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F1C9-B890-D718-0D70-CC0599C09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2CD87-040E-74EC-35B5-AB55D13B5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67083-FA56-5670-A610-D16CAF5F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4135C-A0BB-337F-1299-03618CBD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44EC8-A047-2B8B-891F-99057F43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2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10E1B-7B5A-C119-F988-A02B709AF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FFDBE-4FD6-1B8A-EF82-9AD14DAC5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AB1CB-8A70-6098-8634-AA1FF5A1E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59769-194C-4A0F-3B18-12D15FB4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84EEC-FE0C-E6B4-3124-869037D27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D66F2-B6A5-8CC6-5937-B683B89C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3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92DF-2240-1993-CDE1-2641BCC30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2855D-AF39-E7B9-8B48-98ED2A0D7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5002E-A070-8CBD-0A34-CBDA553D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FB7CD-9CEF-55A4-69B8-A9927335D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57267-34C0-4172-8CCA-559E45D421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D78E51-4A58-2085-DA3E-215293064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51922-9D11-1A29-8C44-5492459E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DAE5F-B0FD-A347-0BA4-FC533C60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31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9FDB-13C4-AD54-3BA3-F40C3D67D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802C7-6A96-CA50-F36D-4618A283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B46617-19BA-F8C4-7ED0-9733ED186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F3D8F-5D81-41AE-5AE4-565C7623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05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9E277-6591-4D9D-F777-987AA2CD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F66D0-8ACA-4F2F-8AA2-9A10883C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DCCC7-F644-11F9-BE60-0658823E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3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76FC2-1450-12CD-3784-78A2874E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66767-FB63-CB18-EDAD-43E6D6219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28BDF-0F93-7032-1832-E8CA97DA7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B1007-E572-B076-31DA-55CEAB2D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1AB27-6BCE-E183-14C3-EADDB274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330BA-986C-58AF-1AAB-51311AC1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A327-32A6-E6DC-41A8-4E844DAE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91F54-9B07-D22D-A5A7-E791D29E7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3E35E-7D77-1553-EEF2-0F067DB8E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4B209-ADCC-72C8-79F9-6290C6A8F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18577-03B7-EA56-C422-EF79D839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85AEF0-8EE4-856C-316D-36CF116B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51A1-9C77-9BC1-4136-C4CF335D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CC93F-B11F-0C8C-EB76-420EDA2BD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50CB3-8A6A-5849-39C4-25C197159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1FF6-BA55-1665-94EB-F9D41F82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A032A-EB66-8D21-017A-C6421898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6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286325-E51A-6084-83D1-40C868447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644C2-2318-D70A-B385-450241961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104C2-5EF4-71DF-174C-16369E0F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FD6A-2878-F8E6-0ED2-5A1C8ECA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356E2-79A0-A97B-1DAC-A82EF61F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82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ED75D5-2F0A-E3E9-D0D6-AC71AE2F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5875C-FB5D-78C9-19E8-4BA469413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72DA5-613D-DAE9-FB46-0503547B9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2E8B1-0113-A44D-B041-E899184FCA06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84995-BF46-1577-2AAE-E0664739E3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6B0F4-AB57-95A6-30A1-90CF04FD6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F7081-7DD9-2444-B422-51F21A5C7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94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79C04-058E-9023-A615-ABE3207A4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646508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CVaR-Constrained R2-Dreamer for Risk-Aware 1v1 Robot Soccer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CA120-12B9-E370-8D01-4BB1ABCFB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351" y="4615292"/>
            <a:ext cx="9144000" cy="1655762"/>
          </a:xfrm>
        </p:spPr>
        <p:txBody>
          <a:bodyPr/>
          <a:lstStyle/>
          <a:p>
            <a:r>
              <a:rPr lang="en-US" dirty="0"/>
              <a:t>Debajyoti Chakrabarti</a:t>
            </a:r>
          </a:p>
          <a:p>
            <a:r>
              <a:rPr lang="en-US" dirty="0"/>
              <a:t>PhD student</a:t>
            </a:r>
          </a:p>
          <a:p>
            <a:r>
              <a:rPr lang="en-US" dirty="0"/>
              <a:t>UCLA</a:t>
            </a:r>
          </a:p>
        </p:txBody>
      </p:sp>
    </p:spTree>
    <p:extLst>
      <p:ext uri="{BB962C8B-B14F-4D97-AF65-F5344CB8AC3E}">
        <p14:creationId xmlns:p14="http://schemas.microsoft.com/office/powerpoint/2010/main" val="421516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7EFFC-5362-E594-D6A8-88C116CB5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Objective</a:t>
            </a:r>
            <a:r>
              <a:rPr lang="en-US" dirty="0"/>
              <a:t>:</a:t>
            </a:r>
          </a:p>
          <a:p>
            <a:r>
              <a:rPr lang="en-US" dirty="0"/>
              <a:t>Adapt a CVaR-constrained policy optimization method to R2-Dreamer and test whether it improves:</a:t>
            </a:r>
          </a:p>
          <a:p>
            <a:endParaRPr lang="en-US" dirty="0"/>
          </a:p>
          <a:p>
            <a:r>
              <a:rPr lang="en-US" dirty="0"/>
              <a:t>lower-tail return</a:t>
            </a:r>
          </a:p>
          <a:p>
            <a:r>
              <a:rPr lang="en-US" dirty="0"/>
              <a:t>fall robustness</a:t>
            </a:r>
          </a:p>
          <a:p>
            <a:r>
              <a:rPr lang="en-US" dirty="0"/>
              <a:t>collision robustness</a:t>
            </a:r>
          </a:p>
          <a:p>
            <a:r>
              <a:rPr lang="en-US" dirty="0"/>
              <a:t>task performance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while preserving the native Dreamer training structure.</a:t>
            </a:r>
          </a:p>
        </p:txBody>
      </p:sp>
    </p:spTree>
    <p:extLst>
      <p:ext uri="{BB962C8B-B14F-4D97-AF65-F5344CB8AC3E}">
        <p14:creationId xmlns:p14="http://schemas.microsoft.com/office/powerpoint/2010/main" val="252150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542C-2324-1160-00E8-6B5EB3D2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B695-8221-298E-D9B2-E88160DE0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Risk-neutral Dreamer</a:t>
            </a:r>
            <a:r>
              <a:rPr lang="en-US" dirty="0"/>
              <a:t>:</a:t>
            </a:r>
          </a:p>
          <a:p>
            <a:r>
              <a:rPr lang="en-US" sz="2000" dirty="0"/>
              <a:t>Real environment interaction: stored in replay</a:t>
            </a:r>
          </a:p>
          <a:p>
            <a:r>
              <a:rPr lang="en-US" sz="2000" dirty="0"/>
              <a:t>Replay sequences are used to train the world model: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Then posterior latent states sampled from replay are used as starting points for imagination: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current actor generates actions during imagination</a:t>
            </a:r>
          </a:p>
          <a:p>
            <a:r>
              <a:rPr lang="en-US" sz="2000" dirty="0"/>
              <a:t>The actor and critic are updated from imagined returns.</a:t>
            </a:r>
          </a:p>
          <a:p>
            <a:r>
              <a:rPr lang="en-US" sz="2000" dirty="0"/>
              <a:t>Dreamer is not MPC at execution</a:t>
            </a:r>
          </a:p>
          <a:p>
            <a:r>
              <a:rPr lang="en-US" sz="2000" dirty="0"/>
              <a:t>The 15-step horizon is used for </a:t>
            </a:r>
            <a:r>
              <a:rPr lang="en-US" sz="2000" b="1" dirty="0"/>
              <a:t>policy learning</a:t>
            </a:r>
            <a:r>
              <a:rPr lang="en-US" sz="2000" dirty="0"/>
              <a:t>, not online action-sequence optimization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E8A09F-5438-1486-B8BB-BC0C8382C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495" y="882737"/>
            <a:ext cx="1765300" cy="406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213BA1-F5CF-6261-1A36-26F610FEF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691" y="1754011"/>
            <a:ext cx="5960341" cy="342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CEAC44-D454-8120-9060-6C78C7731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931" y="2757284"/>
            <a:ext cx="2578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22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4F1C2-19BD-8717-14C2-E1C46AB4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091D9-34B3-F732-124F-D525442D38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5428" y="58161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Need for CVaR</a:t>
                </a:r>
                <a:r>
                  <a:rPr lang="en-US" dirty="0"/>
                  <a:t>:</a:t>
                </a:r>
              </a:p>
              <a:p>
                <a:r>
                  <a:rPr lang="en-US" sz="2000" dirty="0"/>
                  <a:t>Risk-neutral Dreamer optimizes: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(performs well on average, but occasional severe failures)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Consider the lower tail: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 err="1"/>
                  <a:t>Rockafellar-Uryasev</a:t>
                </a:r>
                <a:r>
                  <a:rPr lang="en-US" sz="2000" dirty="0"/>
                  <a:t> (RU) lower-tail CVaR: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</a:p>
              <a:p>
                <a:pPr marL="0" indent="0">
                  <a:buNone/>
                </a:pPr>
                <a:r>
                  <a:rPr lang="en-US" sz="2000" dirty="0"/>
                  <a:t>	Constraint: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𝐶𝑉𝑎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F091D9-34B3-F732-124F-D525442D38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428" y="581615"/>
                <a:ext cx="10515600" cy="4351338"/>
              </a:xfrm>
              <a:blipFill>
                <a:blip r:embed="rId2"/>
                <a:stretch>
                  <a:fillRect l="-132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F2B4F88-C07A-9948-BDCE-B739AD12D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690" y="1037359"/>
            <a:ext cx="1270537" cy="524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E41EB2-3E40-25D0-8186-5AF9F08B6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884" y="2623397"/>
            <a:ext cx="1270537" cy="4160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CA2872-B91D-8AED-EA93-A75B98F10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958" y="3238672"/>
            <a:ext cx="43053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2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2A51BB-82A4-BEDA-A9DB-13D2D2690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309086"/>
              </p:ext>
            </p:extLst>
          </p:nvPr>
        </p:nvGraphicFramePr>
        <p:xfrm>
          <a:off x="635000" y="1094611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141339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849021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31504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PPO-CVaR paper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Our R2-Dreamer CVaR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148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Data used for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 on-policy rollouts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World-model imagined trajectories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173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Starting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Current/recent policy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Replay posterior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01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rewards + bootstrap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Predicted rewards + critic bootstrap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64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Policy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PPO clipped surrogate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Native Dreamer actor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039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CVaR tail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trajectory 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Imagined trajectory returns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33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Stability 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PPO ratio clipping + grad clipping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Gradient-ratio cap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196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Critic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PPO value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Risk-neutral Dreamer critic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461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World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RSSM learned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8245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BFEE91-A19D-A03D-6D5C-B30C7863F339}"/>
              </a:ext>
            </a:extLst>
          </p:cNvPr>
          <p:cNvSpPr txBox="1"/>
          <p:nvPr/>
        </p:nvSpPr>
        <p:spPr>
          <a:xfrm>
            <a:off x="635000" y="429553"/>
            <a:ext cx="78439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Reference PPO-CVaR vs Our Dreamer-CVaR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E27EE-F3B3-B54A-4E8C-C37977EFB634}"/>
                  </a:ext>
                </a:extLst>
              </p:cNvPr>
              <p:cNvSpPr txBox="1"/>
              <p:nvPr/>
            </p:nvSpPr>
            <p:spPr>
              <a:xfrm>
                <a:off x="2327563" y="5076929"/>
                <a:ext cx="739832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PPO: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0" i="1"/>
                        <m:t>Which real trajectories were bad?</m:t>
                      </m:r>
                    </m:oMath>
                  </m:oMathPara>
                </a14:m>
                <a:endParaRPr lang="en-US" b="0" i="1" dirty="0"/>
              </a:p>
              <a:p>
                <a:pPr>
                  <a:buNone/>
                </a:pPr>
                <a:r>
                  <a:rPr lang="en-US" dirty="0"/>
                  <a:t>Dreamer:</a:t>
                </a:r>
              </a:p>
              <a:p>
                <a:pPr>
                  <a:buNone/>
                </a:pPr>
                <a:r>
                  <a:rPr lang="en-US" dirty="0"/>
                  <a:t>		</a:t>
                </a:r>
                <a:r>
                  <a:rPr lang="en-US" i="1" dirty="0"/>
                  <a:t>Which trajectories does the model predict will be bad</a:t>
                </a:r>
                <a:r>
                  <a:rPr lang="en-US" dirty="0"/>
                  <a:t>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3E27EE-F3B3-B54A-4E8C-C37977EFB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563" y="5076929"/>
                <a:ext cx="7398327" cy="1200329"/>
              </a:xfrm>
              <a:prstGeom prst="rect">
                <a:avLst/>
              </a:prstGeom>
              <a:blipFill>
                <a:blip r:embed="rId2"/>
                <a:stretch>
                  <a:fillRect l="-686" t="-208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5404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2DA0D-7353-7974-7BB9-A1790E23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CDB1D-B883-F6E5-11DE-D2BEA4B17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5428" y="58161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CVaR Integration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CVaR was computed over imagined trajectory returns.</a:t>
                </a:r>
              </a:p>
              <a:p>
                <a:r>
                  <a:rPr lang="en-US" sz="2000" dirty="0"/>
                  <a:t>Current setup:</a:t>
                </a:r>
              </a:p>
              <a:p>
                <a:pPr lvl="0"/>
                <a:r>
                  <a:rPr lang="en-US" sz="2000" dirty="0"/>
                  <a:t>imagination horizon: </a:t>
                </a:r>
                <a14:m>
                  <m:oMath xmlns:m="http://schemas.openxmlformats.org/officeDocument/2006/math">
                    <m:r>
                      <a:rPr lang="en-US" sz="2000" i="1"/>
                      <m:t>𝐻</m:t>
                    </m:r>
                    <m:r>
                      <a:rPr lang="en-US" sz="2000"/>
                      <m:t>=15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posterior starts: 512 </a:t>
                </a:r>
              </a:p>
              <a:p>
                <a:pPr lvl="0"/>
                <a:r>
                  <a:rPr lang="en-US" sz="2000" dirty="0"/>
                  <a:t>stochastic replicas per start: </a:t>
                </a:r>
                <a14:m>
                  <m:oMath xmlns:m="http://schemas.openxmlformats.org/officeDocument/2006/math">
                    <m:r>
                      <a:rPr lang="en-US" sz="2000" i="1"/>
                      <m:t>𝐾</m:t>
                    </m:r>
                    <m:r>
                      <a:rPr lang="en-US" sz="2000"/>
                      <m:t>=8</m:t>
                    </m:r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total imagined trajectories:    512X8= 4096</a:t>
                </a:r>
              </a:p>
              <a:p>
                <a:pPr lvl="0"/>
                <a:r>
                  <a:rPr lang="en-US" sz="2000" dirty="0"/>
                  <a:t>Global return distribution: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4096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lvl="0"/>
                <a:r>
                  <a:rPr lang="en-US" sz="2000" dirty="0"/>
                  <a:t>Then, CVaR actor pressure applied using score-function gradient: </a:t>
                </a:r>
              </a:p>
              <a:p>
                <a:pPr lvl="0"/>
                <a:r>
                  <a:rPr lang="en-US" sz="2000" dirty="0"/>
                  <a:t>The normal Dreamer critic remained risk-neutral.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1CDB1D-B883-F6E5-11DE-D2BEA4B17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5428" y="581615"/>
                <a:ext cx="10515600" cy="4351338"/>
              </a:xfrm>
              <a:blipFill>
                <a:blip r:embed="rId2"/>
                <a:stretch>
                  <a:fillRect l="-1327" t="-3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E1BEB5B1-6CCD-7CE4-06AB-FB6226CC3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876" y="3962401"/>
            <a:ext cx="1235302" cy="43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3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CCEA3-C1A3-2F7A-FBEA-4247BACB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9356-BD8A-4415-96D1-47E2F6A68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Problems Encountered: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440327-865B-A363-C94B-76A6B6E49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522329"/>
              </p:ext>
            </p:extLst>
          </p:nvPr>
        </p:nvGraphicFramePr>
        <p:xfrm>
          <a:off x="570346" y="1283494"/>
          <a:ext cx="10515600" cy="32004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283880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61796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10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Eta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Could fail to track </a:t>
                      </a:r>
                      <a:r>
                        <a:rPr lang="en-US" dirty="0" err="1"/>
                        <a:t>VaR</a:t>
                      </a:r>
                      <a:r>
                        <a:rPr lang="en-US" dirty="0"/>
                        <a:t> correctly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53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Fixed beta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Previously attempted and did not solve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369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Lambda growth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Could saturate / become excessively influential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4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CVaR actor 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Became much larger than normal actor gradient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72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Return-scale dependence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Raw shortfalls strongly dependent on reward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009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Alternative safety-cost formulations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Added complexity and degraded task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3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PPO-style inner 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Considered but rejected to preserve Dreamer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2528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599C890-B7E0-FF9C-D6A1-6001B26E528B}"/>
              </a:ext>
            </a:extLst>
          </p:cNvPr>
          <p:cNvSpPr txBox="1"/>
          <p:nvPr/>
        </p:nvSpPr>
        <p:spPr>
          <a:xfrm>
            <a:off x="2152073" y="538984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major practical issue became: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F51C2-AB18-5954-1214-B4CD3FFB6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146" y="5101432"/>
            <a:ext cx="1968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56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1CB37-C6B5-D02C-F084-FCEDCE60A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11A28-502A-E7BC-BCD9-64766B0E0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Gradient Ratio Cap </a:t>
            </a:r>
            <a:r>
              <a:rPr lang="en-US" dirty="0"/>
              <a:t>:</a:t>
            </a:r>
          </a:p>
          <a:p>
            <a:r>
              <a:rPr lang="en-US" sz="2000" dirty="0"/>
              <a:t>To preserve native Dreamer training, we introduced: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Scaling: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And, 					(initial c=1)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FD7B18-B8CD-C452-BFF9-A2A9C6473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829" y="988290"/>
            <a:ext cx="2952480" cy="5952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2227EE-ED23-04B4-3C69-DDAB6C91F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0" y="1736898"/>
            <a:ext cx="2017851" cy="738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A17EF6-42DF-A954-69FD-96E936E61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364" y="2616778"/>
            <a:ext cx="2082800" cy="571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AC633F-4666-3AC3-FB69-E7966826B3D0}"/>
              </a:ext>
            </a:extLst>
          </p:cNvPr>
          <p:cNvSpPr txBox="1"/>
          <p:nvPr/>
        </p:nvSpPr>
        <p:spPr>
          <a:xfrm>
            <a:off x="2447635" y="4130431"/>
            <a:ext cx="70796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Result</a:t>
            </a:r>
          </a:p>
          <a:p>
            <a:pPr>
              <a:buNone/>
            </a:pPr>
            <a:r>
              <a:rPr lang="en-US" dirty="0"/>
              <a:t>This successfully prevented gradient explosion without changing: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world-model optimizer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critic optimizer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Dreamer actor optimizer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overall update structure</a:t>
            </a:r>
          </a:p>
        </p:txBody>
      </p:sp>
    </p:spTree>
    <p:extLst>
      <p:ext uri="{BB962C8B-B14F-4D97-AF65-F5344CB8AC3E}">
        <p14:creationId xmlns:p14="http://schemas.microsoft.com/office/powerpoint/2010/main" val="3937882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8F2A-DBDF-E0FA-5A44-3403AECD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9D1B9-69C7-5B13-8FAD-F3FDA5E4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Reference paper based Observation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It does not enforce constraint satisfaction (bounded CVaR pressure),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dirty="0"/>
              <a:t>Beta</a:t>
            </a:r>
            <a:r>
              <a:rPr lang="en-US" dirty="0"/>
              <a:t> </a:t>
            </a:r>
            <a:r>
              <a:rPr lang="en-US" sz="2000" dirty="0"/>
              <a:t>tracks eta/</a:t>
            </a:r>
            <a:r>
              <a:rPr lang="en-US" sz="2000" dirty="0" err="1"/>
              <a:t>VaR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As,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Lambda can get saturate!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A3FF84-8AF5-4794-02E6-ABD56F4EB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77" y="1995284"/>
            <a:ext cx="2933700" cy="152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EFF0B8-5FA3-E2F8-E7A2-166BC919F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208" y="3972118"/>
            <a:ext cx="1917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8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9FEFC-E801-41D1-67BE-B618CD3C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4280C-7017-C953-37A9-6EF339D23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CVaR Result</a:t>
            </a:r>
            <a:r>
              <a:rPr lang="en-US" dirty="0"/>
              <a:t>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FABF37-F882-693C-08C9-641F70926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78" y="1283855"/>
            <a:ext cx="1403657" cy="155748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14F668-12DA-ABDE-60F0-38222663C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697376"/>
              </p:ext>
            </p:extLst>
          </p:nvPr>
        </p:nvGraphicFramePr>
        <p:xfrm>
          <a:off x="3175001" y="1091044"/>
          <a:ext cx="78867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967863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334940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85403718"/>
                    </a:ext>
                  </a:extLst>
                </a:gridCol>
              </a:tblGrid>
              <a:tr h="266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Risk-neutral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Calibrated CVaR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381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1" dirty="0"/>
                        <a:t>Goal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0.925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0.945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19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1" dirty="0"/>
                        <a:t>Mean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237.5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253.3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59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1" dirty="0"/>
                        <a:t>q10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76.9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167.9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63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1" dirty="0"/>
                        <a:t>q25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212.0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235.2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04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 CVaR0.25​</a:t>
                      </a:r>
                      <a:endParaRPr lang="en-US" b="0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77.8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111.5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969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1" dirty="0"/>
                        <a:t>Fall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499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i="1" dirty="0"/>
                        <a:t>Collision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0.385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0966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41AE94-E54D-228C-7140-B1B775CDE969}"/>
              </a:ext>
            </a:extLst>
          </p:cNvPr>
          <p:cNvSpPr txBox="1"/>
          <p:nvPr/>
        </p:nvSpPr>
        <p:spPr>
          <a:xfrm>
            <a:off x="455428" y="3177309"/>
            <a:ext cx="20383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100K training steps,</a:t>
            </a:r>
          </a:p>
          <a:p>
            <a:r>
              <a:rPr lang="en-US" dirty="0"/>
              <a:t>200 evaluation episodes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DD5F9-0DD4-FF2B-9F31-55B6EC9FCDB4}"/>
              </a:ext>
            </a:extLst>
          </p:cNvPr>
          <p:cNvSpPr txBox="1"/>
          <p:nvPr/>
        </p:nvSpPr>
        <p:spPr>
          <a:xfrm>
            <a:off x="1383957" y="4932953"/>
            <a:ext cx="6722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Improving imagination CVaR improves real CVaR</a:t>
            </a:r>
          </a:p>
        </p:txBody>
      </p:sp>
    </p:spTree>
    <p:extLst>
      <p:ext uri="{BB962C8B-B14F-4D97-AF65-F5344CB8AC3E}">
        <p14:creationId xmlns:p14="http://schemas.microsoft.com/office/powerpoint/2010/main" val="367791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ED6B-4C11-2213-6385-679E4226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963C-4A17-909C-3408-13E918BD7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CVaR Result</a:t>
            </a:r>
            <a:r>
              <a:rPr lang="en-US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39D2A-1138-ED01-DDCD-A528BD4E2235}"/>
              </a:ext>
            </a:extLst>
          </p:cNvPr>
          <p:cNvSpPr txBox="1"/>
          <p:nvPr/>
        </p:nvSpPr>
        <p:spPr>
          <a:xfrm>
            <a:off x="520083" y="1209964"/>
            <a:ext cx="701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100K training steps, 200 evaluation episodes per seed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D80D74-DC0D-800A-39A1-B84B9320A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696907"/>
              </p:ext>
            </p:extLst>
          </p:nvPr>
        </p:nvGraphicFramePr>
        <p:xfrm>
          <a:off x="662709" y="1965960"/>
          <a:ext cx="10515600" cy="2926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9962686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698421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256402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664694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Seed 10 RN→CVaR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Seed 11 </a:t>
                      </a:r>
                      <a:r>
                        <a:rPr lang="en-US" b="1" dirty="0" err="1"/>
                        <a:t>RN→CVaR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Seed 12 </a:t>
                      </a:r>
                      <a:r>
                        <a:rPr lang="en-US" b="1" dirty="0" err="1"/>
                        <a:t>RN→CVaR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84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Goal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0.925→0.945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0.945→0.885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0.965→0.920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085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Mean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237.5→253.3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254.7→235.8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265.3→242.5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418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q10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76.9→167.9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169.2→73.8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198.8→159.0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708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q25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212.0→235.2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226.2→227.9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232.7→227.1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99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CVaR0.25​</a:t>
                      </a:r>
                      <a:endParaRPr lang="en-US" i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77.8→111.5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122.4→61.8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154.0→89.5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324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Fall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0.040→0.045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0.035→0.075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0.015→0.050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996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Collision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</a:rPr>
                        <a:t>0.485→0.385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0.460→0.450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0.400→0.460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1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379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D104B-A135-FF5E-3459-A8DF726F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6453C-EAE0-09B1-41F9-6F331928A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CVaR Result</a:t>
            </a:r>
            <a:r>
              <a:rPr lang="en-US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80143D-10AB-4F9E-1118-32020367A4B4}"/>
              </a:ext>
            </a:extLst>
          </p:cNvPr>
          <p:cNvSpPr txBox="1"/>
          <p:nvPr/>
        </p:nvSpPr>
        <p:spPr>
          <a:xfrm>
            <a:off x="520083" y="1209964"/>
            <a:ext cx="7016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100K training steps, 200 evaluation episodes per seed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3356B6-9156-A981-A97A-82A710C2A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570980"/>
              </p:ext>
            </p:extLst>
          </p:nvPr>
        </p:nvGraphicFramePr>
        <p:xfrm>
          <a:off x="671946" y="2025535"/>
          <a:ext cx="10515600" cy="28346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58213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66235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5048769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373249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31856451"/>
                    </a:ext>
                  </a:extLst>
                </a:gridCol>
              </a:tblGrid>
              <a:tr h="396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RN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CVaR 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/>
                        <a:t>Mean diff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Seeds favoring CVaR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736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Goal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-0.028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048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Mean return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252.5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243.8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-8.7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6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q10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148.3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133.6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-14.7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7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q25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223.6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230.1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+6.4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909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Fall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+0.027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261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Collision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-0.017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2/3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3724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9CD25E-D72F-8D22-A886-40E9CFC1E198}"/>
              </a:ext>
            </a:extLst>
          </p:cNvPr>
          <p:cNvSpPr txBox="1"/>
          <p:nvPr/>
        </p:nvSpPr>
        <p:spPr>
          <a:xfrm>
            <a:off x="1985818" y="5630054"/>
            <a:ext cx="883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CVaR is not robust across seeds</a:t>
            </a:r>
          </a:p>
        </p:txBody>
      </p:sp>
    </p:spTree>
    <p:extLst>
      <p:ext uri="{BB962C8B-B14F-4D97-AF65-F5344CB8AC3E}">
        <p14:creationId xmlns:p14="http://schemas.microsoft.com/office/powerpoint/2010/main" val="358684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E7A39-B1D8-B433-3041-6E792E9A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17491-BF05-3CF5-9A41-B9DE747DA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World Model Error Diagnostic</a:t>
            </a:r>
            <a:r>
              <a:rPr lang="en-US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B18932-1D1A-C80A-62CA-86244C29574E}"/>
              </a:ext>
            </a:extLst>
          </p:cNvPr>
          <p:cNvSpPr txBox="1"/>
          <p:nvPr/>
        </p:nvSpPr>
        <p:spPr>
          <a:xfrm>
            <a:off x="520083" y="1209964"/>
            <a:ext cx="8438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each replay sequence, use real recorded action seq: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feed it through RSSM </a:t>
            </a:r>
          </a:p>
          <a:p>
            <a:r>
              <a:rPr lang="en-US" dirty="0"/>
              <a:t>Then compare the model prediction against what actually happened in replay: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06E97-CEDB-5BCA-E464-4711C49131D7}"/>
              </a:ext>
            </a:extLst>
          </p:cNvPr>
          <p:cNvSpPr txBox="1"/>
          <p:nvPr/>
        </p:nvSpPr>
        <p:spPr>
          <a:xfrm>
            <a:off x="378941" y="6069597"/>
            <a:ext cx="114212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Even when given the exact real actions, the world model is much less accurate on fall/failure dynamics. (impact on CVaR computation and hence the derived policy!)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A45797-3C9F-A838-19A2-8645E0EF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972" y="901027"/>
            <a:ext cx="3911600" cy="1181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9C3A8-DFC1-63EE-FF94-9598DEFC7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478" y="1607945"/>
            <a:ext cx="1651000" cy="596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13280-4757-C0EE-8792-8E5544DCA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4878" y="2715940"/>
            <a:ext cx="1727200" cy="596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D829F3-6454-7A57-DD3C-B1CE90A9D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628" y="2741340"/>
            <a:ext cx="1612900" cy="54610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0F2F6D-F113-C4D2-3749-0873AA9D3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181532"/>
              </p:ext>
            </p:extLst>
          </p:nvPr>
        </p:nvGraphicFramePr>
        <p:xfrm>
          <a:off x="520083" y="3312840"/>
          <a:ext cx="10515600" cy="2468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220385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95011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9603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Category of </a:t>
                      </a:r>
                      <a:r>
                        <a:rPr lang="en-US" b="1" dirty="0" err="1"/>
                        <a:t>Traj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Teacher-forced reward 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b="1" dirty="0"/>
                        <a:t>Teacher-forced continuation MAE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909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6.65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0.031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029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Timeout / no-goal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861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Fall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25.9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276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Success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26.7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469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i="1" dirty="0"/>
                        <a:t>Conceded / OOB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15.6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0.107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663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690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9FF1-1E77-5183-27EB-FEB05E3BA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45DD2-D011-2F31-3529-D36F6AA42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Tail Accuracy Degrades with Imagination Horizon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17AB10-3A5D-68B3-D005-C68A75326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991959"/>
              </p:ext>
            </p:extLst>
          </p:nvPr>
        </p:nvGraphicFramePr>
        <p:xfrm>
          <a:off x="208004" y="1565777"/>
          <a:ext cx="10515603" cy="210312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35738545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2705941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1338477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88331092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2072798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2552171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278955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Horizon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Jaccard seed10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Jaccard seed11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Jaccard seed12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Spearman seed10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Spearman seed11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b="1" dirty="0"/>
                        <a:t>Spearman seed12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331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0.809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0.821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0.783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0.937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0.943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0.938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159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0.629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0.654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0.886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0.885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41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0.553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0.602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0.574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0.794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dirty="0"/>
                        <a:t>0.815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0.832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4817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0.565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0.525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0.754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/>
                        <a:t>0.788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800" dirty="0"/>
                        <a:t>0.808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27724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FDC349-4AA5-A643-0E91-1F4A1F357786}"/>
                  </a:ext>
                </a:extLst>
              </p:cNvPr>
              <p:cNvSpPr txBox="1"/>
              <p:nvPr/>
            </p:nvSpPr>
            <p:spPr>
              <a:xfrm>
                <a:off x="614749" y="4223778"/>
                <a:ext cx="9369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the imagined worst-25% tail matches the real tail fairly well.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FDC349-4AA5-A643-0E91-1F4A1F357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49" y="4223778"/>
                <a:ext cx="9369510" cy="369332"/>
              </a:xfrm>
              <a:prstGeom prst="rect">
                <a:avLst/>
              </a:prstGeom>
              <a:blipFill>
                <a:blip r:embed="rId2"/>
                <a:stretch>
                  <a:fillRect l="-541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356380-77A7-81AF-2485-13BC7BDC43C6}"/>
                  </a:ext>
                </a:extLst>
              </p:cNvPr>
              <p:cNvSpPr txBox="1"/>
              <p:nvPr/>
            </p:nvSpPr>
            <p:spPr>
              <a:xfrm>
                <a:off x="614749" y="4704509"/>
                <a:ext cx="91429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buNone/>
                </a:pPr>
                <a:r>
                  <a:rPr lang="en-US" dirty="0"/>
                  <a:t>only about half of the tail set overlaps​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356380-77A7-81AF-2485-13BC7BDC4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49" y="4704509"/>
                <a:ext cx="9142970" cy="646331"/>
              </a:xfrm>
              <a:prstGeom prst="rect">
                <a:avLst/>
              </a:prstGeom>
              <a:blipFill>
                <a:blip r:embed="rId3"/>
                <a:stretch>
                  <a:fillRect l="-555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A7029B1-A9A9-29C2-E8C5-61BAD6B045E1}"/>
              </a:ext>
            </a:extLst>
          </p:cNvPr>
          <p:cNvSpPr txBox="1"/>
          <p:nvPr/>
        </p:nvSpPr>
        <p:spPr>
          <a:xfrm>
            <a:off x="96794" y="5747838"/>
            <a:ext cx="119757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As imagination horizon increases, the world model becomes less reliable at identifying and ranking the true bad-return trajectories.</a:t>
            </a:r>
          </a:p>
        </p:txBody>
      </p:sp>
    </p:spTree>
    <p:extLst>
      <p:ext uri="{BB962C8B-B14F-4D97-AF65-F5344CB8AC3E}">
        <p14:creationId xmlns:p14="http://schemas.microsoft.com/office/powerpoint/2010/main" val="382555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4261-5E92-B608-B8CA-BADFAE4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1570C-3559-ED18-8C04-6D852A3BE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CVaR Risk-Horizon Ablation: Seed 11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dirty="0"/>
              <a:t>Normal Dreamer horizon remained: 15</a:t>
            </a:r>
          </a:p>
          <a:p>
            <a:r>
              <a:rPr lang="en-US" sz="2000" dirty="0"/>
              <a:t>CVaR risk horizon was changed: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2C87AF-FB6A-D9EC-C8AE-AD0F5512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945331"/>
            <a:ext cx="2476500" cy="520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F80C409-B984-889C-5E97-A7972CB245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4243722"/>
                  </p:ext>
                </p:extLst>
              </p:nvPr>
            </p:nvGraphicFramePr>
            <p:xfrm>
              <a:off x="257433" y="2647932"/>
              <a:ext cx="10515600" cy="2103120"/>
            </p:xfrm>
            <a:graphic>
              <a:graphicData uri="http://schemas.openxmlformats.org/drawingml/2006/table">
                <a:tbl>
                  <a:tblPr/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3041147577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42301131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40496534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777375143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75810479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73561829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𝑪𝑽𝒂𝑹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Mean return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/>
                            <a:t>Real CVaR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Goal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Fall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Collision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77221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-8.95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-22.60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-0.025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+0.015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-0.005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4649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-15.08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-48.22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-0.040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0.000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+0.035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4816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10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-14.57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-54.94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-0.035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+0.040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-0.120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18666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-18.98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-60.67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-0.060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+0.040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-0.010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242304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F80C409-B984-889C-5E97-A7972CB245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4243722"/>
                  </p:ext>
                </p:extLst>
              </p:nvPr>
            </p:nvGraphicFramePr>
            <p:xfrm>
              <a:off x="257433" y="2647932"/>
              <a:ext cx="10515600" cy="2103120"/>
            </p:xfrm>
            <a:graphic>
              <a:graphicData uri="http://schemas.openxmlformats.org/drawingml/2006/table">
                <a:tbl>
                  <a:tblPr/>
                  <a:tblGrid>
                    <a:gridCol w="1752600">
                      <a:extLst>
                        <a:ext uri="{9D8B030D-6E8A-4147-A177-3AD203B41FA5}">
                          <a16:colId xmlns:a16="http://schemas.microsoft.com/office/drawing/2014/main" val="3041147577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423011315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1404965341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777375143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758104799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373561829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922" r="-500725" b="-2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Mean return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/>
                            <a:t>Real CVaR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Goal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Fall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b="1" dirty="0"/>
                            <a:t>Collision diff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677221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-8.95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-22.60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-0.025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+0.015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-0.005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546494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-15.08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-48.22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-0.040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0.000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+0.035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481646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10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-14.57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-54.94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-0.035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+0.040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-0.120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186667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-18.98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-60.67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-0.060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/>
                            <a:t>+0.040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dirty="0"/>
                            <a:t>-0.010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242304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20CC9BE-C6D1-ABC9-6904-4E2010BC3EF4}"/>
              </a:ext>
            </a:extLst>
          </p:cNvPr>
          <p:cNvSpPr txBox="1"/>
          <p:nvPr/>
        </p:nvSpPr>
        <p:spPr>
          <a:xfrm>
            <a:off x="455428" y="4974845"/>
            <a:ext cx="609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Diff=CVaR policy- Risk neutral policy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D09377-844B-2B9A-DEDA-F7A1D97B96C5}"/>
                  </a:ext>
                </a:extLst>
              </p:cNvPr>
              <p:cNvSpPr txBox="1"/>
              <p:nvPr/>
            </p:nvSpPr>
            <p:spPr>
              <a:xfrm>
                <a:off x="2684277" y="5617040"/>
                <a:ext cx="773841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𝐶𝑉𝑎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0.25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=−60.67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r>
                  <a:rPr lang="en-US" dirty="0"/>
                  <a:t>means the CVaR-trained policy's real lower-tail return was 60.67 points worse than the risk-neutral baseline.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D09377-844B-2B9A-DEDA-F7A1D97B9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277" y="5617040"/>
                <a:ext cx="7738418" cy="1200329"/>
              </a:xfrm>
              <a:prstGeom prst="rect">
                <a:avLst/>
              </a:prstGeom>
              <a:blipFill>
                <a:blip r:embed="rId4"/>
                <a:stretch>
                  <a:fillRect l="-656" t="-2105" b="-7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8775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0570-1E00-D405-DAB2-1640FE9FB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0B70-1CF4-0DEE-00FA-36A24D030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PPO vs Dreamer: Why CVaR Is Easier in PPO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75D123-5377-E108-2C19-6A2EF43C5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99957"/>
              </p:ext>
            </p:extLst>
          </p:nvPr>
        </p:nvGraphicFramePr>
        <p:xfrm>
          <a:off x="233006" y="129424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661533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24235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PPO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Dreamer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877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real trajectories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imagined trajectories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415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 rewards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Predicted rewards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734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Current/recent policy state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Replay-conditioned start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715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learned dynamics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Learned RSSM dynamics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93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Tail is observed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Tail is predicted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5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PPO clipping controls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Requires separate stabilization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452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 error absent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error compounds with horizon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8104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18358-A4E8-8D10-C5A1-BE2EF74E0D92}"/>
                  </a:ext>
                </a:extLst>
              </p:cNvPr>
              <p:cNvSpPr txBox="1"/>
              <p:nvPr/>
            </p:nvSpPr>
            <p:spPr>
              <a:xfrm>
                <a:off x="2245841" y="4593851"/>
                <a:ext cx="8725187" cy="21034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PPO: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0"/>
                        <m:t>real</m:t>
                      </m:r>
                      <m:r>
                        <m:rPr>
                          <m:nor/>
                        </m:rPr>
                        <a:rPr lang="en-US" b="0" i="1"/>
                        <m:t> bad outcomes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𝐶𝑉𝑎𝑅</m:t>
                      </m:r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r>
                  <a:rPr lang="en-US" dirty="0"/>
                  <a:t>Dreamer: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0"/>
                        <m:t>predicted</m:t>
                      </m:r>
                      <m:r>
                        <m:rPr>
                          <m:nor/>
                        </m:rPr>
                        <a:rPr lang="en-US" b="0" i="1"/>
                        <m:t> bad outcomes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𝐶𝑉𝑎𝑅</m:t>
                      </m:r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r>
                  <a:rPr lang="en-US" dirty="0"/>
                  <a:t>Dreamer can accidentally optimize: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b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b="0"/>
                            <m:t>model−prediction</m:t>
                          </m:r>
                          <m:r>
                            <m:rPr>
                              <m:nor/>
                            </m:rPr>
                            <a:rPr lang="en-US" b="0" i="1"/>
                            <m:t> errors in the tail</m:t>
                          </m:r>
                        </m:e>
                      </m:borderBox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r>
                  <a:rPr lang="en-US" dirty="0"/>
                  <a:t>rather than real risk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D718358-A4E8-8D10-C5A1-BE2EF74E0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841" y="4593851"/>
                <a:ext cx="8725187" cy="2103461"/>
              </a:xfrm>
              <a:prstGeom prst="rect">
                <a:avLst/>
              </a:prstGeom>
              <a:blipFill>
                <a:blip r:embed="rId2"/>
                <a:stretch>
                  <a:fillRect l="-581" t="-1198" b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920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B526-5EF0-411A-8DE6-82544516D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737D2-55F3-E3D4-319D-A94A9515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Research Qs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DF3957-AEEE-C143-F73B-C3645700A2F9}"/>
                  </a:ext>
                </a:extLst>
              </p:cNvPr>
              <p:cNvSpPr txBox="1"/>
              <p:nvPr/>
            </p:nvSpPr>
            <p:spPr>
              <a:xfrm>
                <a:off x="1468681" y="2413337"/>
                <a:ext cx="8960421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1"/>
                        <m:t>Expected−return</m:t>
                      </m:r>
                      <m:r>
                        <m:rPr>
                          <m:nor/>
                        </m:rPr>
                        <a:rPr lang="en-US" b="1" i="1"/>
                        <m:t> Dreamer</m:t>
                      </m:r>
                    </m:oMath>
                  </m:oMathPara>
                </a14:m>
                <a:endParaRPr lang="en-US" b="1" dirty="0"/>
              </a:p>
              <a:p>
                <a:pPr>
                  <a:buNone/>
                </a:pPr>
                <a:r>
                  <a:rPr lang="en-US" dirty="0"/>
                  <a:t>can tolerate model error reasonably well,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b="1"/>
                        <m:t>CVaR−Dreamer</m:t>
                      </m:r>
                    </m:oMath>
                  </m:oMathPara>
                </a14:m>
                <a:endParaRPr lang="en-US" b="1" dirty="0"/>
              </a:p>
              <a:p>
                <a:pPr>
                  <a:buNone/>
                </a:pPr>
                <a:r>
                  <a:rPr lang="en-US" dirty="0"/>
                  <a:t>is much more sensitive because CVaR explicitly selects extreme predictions.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DF3957-AEEE-C143-F73B-C3645700A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681" y="2413337"/>
                <a:ext cx="8960421" cy="1477328"/>
              </a:xfrm>
              <a:prstGeom prst="rect">
                <a:avLst/>
              </a:prstGeom>
              <a:blipFill>
                <a:blip r:embed="rId2"/>
                <a:stretch>
                  <a:fillRect l="-566" t="-855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24507C-D289-4D72-B035-F594C59BC9AF}"/>
                  </a:ext>
                </a:extLst>
              </p:cNvPr>
              <p:cNvSpPr txBox="1"/>
              <p:nvPr/>
            </p:nvSpPr>
            <p:spPr>
              <a:xfrm>
                <a:off x="1777315" y="1141225"/>
                <a:ext cx="6098058" cy="712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1800" b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sz="1800" b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sz="1800" b="0"/>
                                <m:t>How</m:t>
                              </m:r>
                              <m:r>
                                <m:rPr>
                                  <m:nor/>
                                </m:rPr>
                                <a:rPr lang="en-US" sz="1800" b="0" i="1"/>
                                <m:t> can tail−risk optimization remain reliable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sz="1800" b="0" i="1"/>
                                <m:t>when the </m:t>
                              </m:r>
                              <m:r>
                                <m:rPr>
                                  <m:nor/>
                                </m:rPr>
                                <a:rPr lang="en-US" sz="1800" b="0" i="1" smtClean="0"/>
                                <m:t>return</m:t>
                              </m:r>
                              <m:r>
                                <m:rPr>
                                  <m:nor/>
                                </m:rPr>
                                <a:rPr lang="en-US" sz="1800" b="0" i="1"/>
                                <m:t> distribution comes from an imperfect learned world model?</m:t>
                              </m:r>
                            </m:e>
                          </m:eqArr>
                        </m:e>
                      </m:borderBox>
                    </m:oMath>
                  </m:oMathPara>
                </a14:m>
                <a:endParaRPr lang="en-US" sz="18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24507C-D289-4D72-B035-F594C59BC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7315" y="1141225"/>
                <a:ext cx="6098058" cy="712503"/>
              </a:xfrm>
              <a:prstGeom prst="rect">
                <a:avLst/>
              </a:prstGeom>
              <a:blipFill>
                <a:blip r:embed="rId3"/>
                <a:stretch>
                  <a:fillRect r="-24948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254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2A6A-DC56-CB16-0E73-46DD6F09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81D2A-F45E-E4F5-3818-097BD1D6D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428" y="5816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Current Status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0104D-9E8B-63D4-E5D1-01F9A6C39FAF}"/>
              </a:ext>
            </a:extLst>
          </p:cNvPr>
          <p:cNvSpPr txBox="1"/>
          <p:nvPr/>
        </p:nvSpPr>
        <p:spPr>
          <a:xfrm>
            <a:off x="455428" y="988636"/>
            <a:ext cx="10515600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Done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Stable CVaR integration into native R2-Dreamer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eta tracking after reward-scale calibration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shortfall clipping after calibration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lambda bounded as reference implementation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gradient-ratio cap prevents actor-gradient explosion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CVaR can produce very strong gains on some seeds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What remains unresolved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gains do not generalize consistently across seeds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fall rate is not consistently improved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imagined tail becomes increasingly inaccurate with horizon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shorter risk horizon helps, but does not fully solve the problem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current imagined-CVaR signal is not reliably predictive of real CVaR improvement </a:t>
            </a:r>
          </a:p>
        </p:txBody>
      </p:sp>
    </p:spTree>
    <p:extLst>
      <p:ext uri="{BB962C8B-B14F-4D97-AF65-F5344CB8AC3E}">
        <p14:creationId xmlns:p14="http://schemas.microsoft.com/office/powerpoint/2010/main" val="2244738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7F5A-4568-CD9B-1457-6CD1C2AB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46C605-1EB5-DF7D-BA69-0E480BE8AA83}"/>
                  </a:ext>
                </a:extLst>
              </p:cNvPr>
              <p:cNvSpPr txBox="1"/>
              <p:nvPr/>
            </p:nvSpPr>
            <p:spPr>
              <a:xfrm>
                <a:off x="2492976" y="1090011"/>
                <a:ext cx="6098058" cy="3926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During training, we optimize: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𝐶𝑉𝑎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𝑖𝑚𝑎𝑔𝑖𝑛𝑒𝑑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But what we ultimately care about is: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𝐶𝑉𝑎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:r>
                  <a:rPr lang="en-US" dirty="0"/>
                  <a:t>Right now:</a:t>
                </a:r>
              </a:p>
              <a:p>
                <a:pPr>
                  <a:buNone/>
                </a:pP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400" b="1">
                              <a:solidFill>
                                <a:srgbClr val="0070C0"/>
                              </a:solidFill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sz="2400" b="1">
                              <a:solidFill>
                                <a:srgbClr val="0070C0"/>
                              </a:solidFill>
                            </a:rPr>
                            <m:t>better</m:t>
                          </m:r>
                          <m:r>
                            <m:rPr>
                              <m:nor/>
                            </m:rPr>
                            <a:rPr lang="en-US" sz="2400" b="1" i="1">
                              <a:solidFill>
                                <a:srgbClr val="0070C0"/>
                              </a:solidFill>
                            </a:rPr>
                            <m:t> imagined CVaR</m:t>
                          </m:r>
                          <m:r>
                            <a:rPr lang="en-US" sz="24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1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̸</m:t>
                          </m:r>
                          <m:r>
                            <m:rPr>
                              <m:nor/>
                            </m:rPr>
                            <a:rPr lang="en-US" sz="24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consistently better real CVaR</m:t>
                          </m:r>
                        </m:e>
                      </m:borderBox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46C605-1EB5-DF7D-BA69-0E480BE8A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976" y="1090011"/>
                <a:ext cx="6098058" cy="3926011"/>
              </a:xfrm>
              <a:prstGeom prst="rect">
                <a:avLst/>
              </a:prstGeom>
              <a:blipFill>
                <a:blip r:embed="rId2"/>
                <a:stretch>
                  <a:fillRect l="-832" t="-643" r="-2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6036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1203</Words>
  <Application>Microsoft Macintosh PowerPoint</Application>
  <PresentationFormat>Widescreen</PresentationFormat>
  <Paragraphs>381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Office Theme</vt:lpstr>
      <vt:lpstr>CVaR-Constrained R2-Dreamer for Risk-Aware 1v1 Robot Soccer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Debajyoti Chakrabarti</dc:creator>
  <cp:lastModifiedBy>Debajyoti Chakrabarti</cp:lastModifiedBy>
  <cp:revision>48</cp:revision>
  <dcterms:created xsi:type="dcterms:W3CDTF">2026-09-10T07:22:19Z</dcterms:created>
  <dcterms:modified xsi:type="dcterms:W3CDTF">2026-09-10T21:00:01Z</dcterms:modified>
</cp:coreProperties>
</file>